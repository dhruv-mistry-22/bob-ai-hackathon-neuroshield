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94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IBM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12033"/>
                </a:solidFill>
                <a:latin typeface="Aptos"/>
              </a:rPr>
              <a:t>GRIDPULSE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2344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C400"/>
                </a:solidFill>
                <a:latin typeface="Aptos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D3E"/>
                </a:solidFill>
                <a:latin typeface="Aptos"/>
              </a:rPr>
              <a:t>Network-aware grid load optimisation
&amp; renewable performance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24612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4"/>
                </a:solidFill>
                <a:latin typeface="Aptos"/>
              </a:rPr>
              <a:t>A direct answer to the challenge: predict → recommend → detect → explain → validate → brief.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91440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325880"/>
            <a:ext cx="2651760" cy="38404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6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35607"/>
            <a:ext cx="2651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70FF"/>
                </a:solidFill>
                <a:latin typeface="Aptos"/>
              </a:rPr>
              <a:t>60-MINUTE LOOK-AHEAD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48840"/>
            <a:ext cx="1417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304288"/>
            <a:ext cx="1417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670FF"/>
                </a:solidFill>
                <a:latin typeface="Aptos"/>
              </a:rPr>
              <a:t>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880360"/>
            <a:ext cx="1417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B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35808"/>
            <a:ext cx="1417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7B170"/>
                </a:solidFill>
                <a:latin typeface="Aptos"/>
              </a:rPr>
              <a:t>SOLAR +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611880"/>
            <a:ext cx="1417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767328"/>
            <a:ext cx="1417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09120"/>
                </a:solidFill>
                <a:latin typeface="Aptos"/>
              </a:rPr>
              <a:t>GRID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4343400"/>
            <a:ext cx="1417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4498848"/>
            <a:ext cx="1417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C400"/>
                </a:solidFill>
                <a:latin typeface="Aptos"/>
              </a:rPr>
              <a:t>ACTION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29800" y="2624328"/>
            <a:ext cx="0" cy="256032"/>
          </a:xfrm>
          <a:prstGeom prst="line">
            <a:avLst/>
          </a:prstGeom>
          <a:ln w="25400">
            <a:solidFill>
              <a:srgbClr val="26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3355848"/>
            <a:ext cx="0" cy="256032"/>
          </a:xfrm>
          <a:prstGeom prst="line">
            <a:avLst/>
          </a:prstGeom>
          <a:ln w="25400">
            <a:solidFill>
              <a:srgbClr val="27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87000" y="4087368"/>
            <a:ext cx="0" cy="256032"/>
          </a:xfrm>
          <a:prstGeom prst="line">
            <a:avLst/>
          </a:prstGeom>
          <a:ln w="25400">
            <a:solidFill>
              <a:srgbClr val="F091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0" y="50749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2033"/>
                </a:solidFill>
                <a:latin typeface="Aptos"/>
              </a:rPr>
              <a:t>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3766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4"/>
                </a:solidFill>
                <a:latin typeface="Aptos"/>
              </a:rPr>
              <a:t>No autonomous grid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TEAM ANTIGRAVITY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08192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DhruvKumar Mistry  •  Meet Patel  •  Kakkad Priyansh  •  Harsh Verma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01 /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Five operational questions. One integrated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The challenge is not five separate ML features. It is a single decision workflow for grid operators.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11680"/>
            <a:ext cx="502920" cy="502920"/>
          </a:xfrm>
          <a:prstGeom prst="round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76272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Forecast demand spikes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Can we see rising grid stress before it becomes difficult to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2011680"/>
            <a:ext cx="502920" cy="502920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76272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0116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Recommend load 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31720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What constrained action should be considered?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90672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3273552"/>
            <a:ext cx="502920" cy="502920"/>
          </a:xfrm>
          <a:prstGeom prst="roundRect">
            <a:avLst/>
          </a:prstGeom>
          <a:solidFill>
            <a:srgbClr val="2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43814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2735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Detect renewable anomalies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93591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Which asset is performing abnormally?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90672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82512" y="3273552"/>
            <a:ext cx="502920" cy="502920"/>
          </a:xfrm>
          <a:prstGeom prst="roundRect">
            <a:avLst/>
          </a:prstGeom>
          <a:solidFill>
            <a:srgbClr val="F0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438144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735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Identify 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93591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Why is that asset underperforming?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4352544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21024" y="4535424"/>
            <a:ext cx="502920" cy="502920"/>
          </a:xfrm>
          <a:prstGeom prst="round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4700016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453542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Generate operator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4855464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What should the operator know, validate and decide?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02 / OUR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GridPulse turns the challenge into one closed operational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Every challenge requirement maps to a concrete pipeline capability and a visible operator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057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103120"/>
            <a:ext cx="1234440" cy="38404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6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70FF"/>
                </a:solidFill>
                <a:latin typeface="Aptos"/>
              </a:rP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9748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Demand spike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520440"/>
            <a:ext cx="16642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XGBoost demand model
60-minute future horizon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800600"/>
            <a:ext cx="1664208" cy="32004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901184"/>
            <a:ext cx="16642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670FF"/>
                </a:solidFill>
                <a:latin typeface="Aptos"/>
              </a:rPr>
              <a:t>CHALLENGE COVERED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79" y="1874519"/>
            <a:ext cx="2057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27248" y="2103120"/>
            <a:ext cx="1234440" cy="384048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221284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C400"/>
                </a:solidFill>
                <a:latin typeface="Aptos"/>
              </a:rPr>
              <a:t>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69748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Load-balancing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520440"/>
            <a:ext cx="16642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Constrained linear optimization
battery • DR • dispatch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4800600"/>
            <a:ext cx="1664208" cy="320040"/>
          </a:xfrm>
          <a:prstGeom prst="roundRect">
            <a:avLst/>
          </a:prstGeom>
          <a:solidFill>
            <a:srgbClr val="FF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248" y="4901184"/>
            <a:ext cx="16642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C400"/>
                </a:solidFill>
                <a:latin typeface="Aptos"/>
              </a:rPr>
              <a:t>CHALLENGE COVERED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1874519"/>
            <a:ext cx="2057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58968" y="2103120"/>
            <a:ext cx="1234440" cy="384048"/>
          </a:xfrm>
          <a:prstGeom prst="roundRect">
            <a:avLst/>
          </a:prstGeom>
          <a:solidFill>
            <a:srgbClr val="EBF9F2"/>
          </a:solidFill>
          <a:ln w="12700">
            <a:solidFill>
              <a:srgbClr val="27B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21284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B170"/>
                </a:solidFill>
                <a:latin typeface="Aptos"/>
              </a:rP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269748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Renewable anomaly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520440"/>
            <a:ext cx="16642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Residual analysis + Isolation Forest
asset-level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8968" y="4800600"/>
            <a:ext cx="1664208" cy="320040"/>
          </a:xfrm>
          <a:prstGeom prst="roundRect">
            <a:avLst/>
          </a:prstGeom>
          <a:solidFill>
            <a:srgbClr val="EB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8968" y="4901184"/>
            <a:ext cx="16642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7B170"/>
                </a:solidFill>
                <a:latin typeface="Aptos"/>
              </a:rPr>
              <a:t>CHALLENGE COVERED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19" y="1874519"/>
            <a:ext cx="2057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2103120"/>
            <a:ext cx="1234440" cy="384048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F0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21284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09120"/>
                </a:solidFill>
                <a:latin typeface="Aptos"/>
              </a:rPr>
              <a:t>EXPLAIN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269748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Root-cause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3520440"/>
            <a:ext cx="16642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Peer deviation + telemetry signals
ranked diagnostic candidates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0688" y="4800600"/>
            <a:ext cx="1664208" cy="320040"/>
          </a:xfrm>
          <a:prstGeom prst="roundRect">
            <a:avLst/>
          </a:prstGeom>
          <a:solidFill>
            <a:srgbClr val="FF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4901184"/>
            <a:ext cx="16642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9120"/>
                </a:solidFill>
                <a:latin typeface="Aptos"/>
              </a:rPr>
              <a:t>CHALLENGE COVERED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1874519"/>
            <a:ext cx="2057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22408" y="2103120"/>
            <a:ext cx="1234440" cy="384048"/>
          </a:xfrm>
          <a:prstGeom prst="roundRect">
            <a:avLst/>
          </a:prstGeom>
          <a:solidFill>
            <a:srgbClr val="FFEFF0"/>
          </a:solidFill>
          <a:ln w="12700">
            <a:solidFill>
              <a:srgbClr val="E1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22408" y="221284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14148"/>
                </a:solidFill>
                <a:latin typeface="Aptos"/>
              </a:rPr>
              <a:t>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2408" y="269748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033"/>
                </a:solidFill>
                <a:latin typeface="Aptos"/>
              </a:rPr>
              <a:t>Operator optimisation brief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520440"/>
            <a:ext cx="16642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Current state + future state + evidence
+ action +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22408" y="4800600"/>
            <a:ext cx="1664208" cy="320040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4901184"/>
            <a:ext cx="16642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14148"/>
                </a:solidFill>
                <a:latin typeface="Aptos"/>
              </a:rPr>
              <a:t>CHALLENGE COVERED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80644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2033"/>
                </a:solidFill>
                <a:latin typeface="Aptos"/>
              </a:rPr>
              <a:t>Integrated output: a decision-ready operator brief — not five disconnected model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03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Predictive intelligence sits upstream of the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The architecture deliberately separates prediction, optimization, simulation and human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55648"/>
            <a:ext cx="103327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55648"/>
            <a:ext cx="1600200" cy="521207"/>
          </a:xfrm>
          <a:prstGeom prst="round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11095"/>
            <a:ext cx="7909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Grid telemetry • renewable assets • weather • resources •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27685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4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68880"/>
            <a:ext cx="103327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468880"/>
            <a:ext cx="1600200" cy="521207"/>
          </a:xfrm>
          <a:prstGeom prst="roundRect">
            <a:avLst/>
          </a:prstGeom>
          <a:solidFill>
            <a:srgbClr val="1FA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42616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624328"/>
            <a:ext cx="7909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Demand • solar • wind • demand-spike probability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99008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4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182112"/>
            <a:ext cx="103327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182112"/>
            <a:ext cx="1600200" cy="521207"/>
          </a:xfrm>
          <a:prstGeom prst="roundRect">
            <a:avLst/>
          </a:prstGeom>
          <a:solidFill>
            <a:srgbClr val="2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55848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ASSESS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337560"/>
            <a:ext cx="7909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Grid risk • curtailment probability • asset anomalies • 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7033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4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95344"/>
            <a:ext cx="103327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895344"/>
            <a:ext cx="1600200" cy="521207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69080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050791"/>
            <a:ext cx="7909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Constrained optimization with resource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416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4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608576"/>
            <a:ext cx="103327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4608576"/>
            <a:ext cx="1600200" cy="521207"/>
          </a:xfrm>
          <a:prstGeom prst="roundRect">
            <a:avLst/>
          </a:prstGeom>
          <a:solidFill>
            <a:srgbClr val="F0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82312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764024"/>
            <a:ext cx="7909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Baseline vs counterfactual future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512978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4"/>
                </a:solidFill>
                <a:latin typeface="Aptos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321808"/>
            <a:ext cx="103327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5321808"/>
            <a:ext cx="1600200" cy="521207"/>
          </a:xfrm>
          <a:prstGeom prst="round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95544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477256"/>
            <a:ext cx="7909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Operator brief • GREEN / YELLOW / RED • human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08076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2033"/>
                </a:solidFill>
                <a:latin typeface="Aptos"/>
              </a:rPr>
              <a:t>Key principle: ML predicts. The optimizer computes. The simulator challenges. The operator decides.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04 /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1. Forecast demand spikes before the grid state arrives.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GridPulse forecasts the next 60 minutes and converts the result into an operational risk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1298448"/>
          </a:xfrm>
          <a:prstGeom prst="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DEMAND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042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36.23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9806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vs 86.13 MW persistence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82880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1828800"/>
            <a:ext cx="50292" cy="1298448"/>
          </a:xfrm>
          <a:prstGeom prst="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0116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DEMAND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3042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52.02 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79806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test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828800"/>
            <a:ext cx="2194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1828800"/>
            <a:ext cx="50292" cy="1298448"/>
          </a:xfrm>
          <a:prstGeom prst="rect">
            <a:avLst/>
          </a:prstGeom>
          <a:solidFill>
            <a:srgbClr val="1FA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20116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DEMAND MAPE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304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79806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test 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828800"/>
            <a:ext cx="24688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828800"/>
            <a:ext cx="50292" cy="129844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01168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SPIKE 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304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79806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validation-tuned threshold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520440"/>
            <a:ext cx="10835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04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4"/>
                </a:solidFill>
                <a:latin typeface="Aptos"/>
              </a:rPr>
              <a:t>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187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2033"/>
                </a:solidFill>
                <a:latin typeface="Aptos"/>
              </a:rPr>
              <a:t>CURRENT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994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2,655.7 MW demand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37560" y="4343400"/>
            <a:ext cx="5577840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37560" y="4343400"/>
            <a:ext cx="5577840" cy="0"/>
          </a:xfrm>
          <a:prstGeom prst="line">
            <a:avLst/>
          </a:prstGeom>
          <a:ln w="50800">
            <a:solidFill>
              <a:srgbClr val="1FA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53328" y="4178808"/>
            <a:ext cx="256032" cy="329184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8404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AACB"/>
                </a:solidFill>
                <a:latin typeface="Aptos"/>
              </a:rPr>
              <a:t>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1879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2033"/>
                </a:solidFill>
                <a:latin typeface="Aptos"/>
              </a:rPr>
              <a:t>+60 MINUTES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994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D3E"/>
                </a:solidFill>
                <a:latin typeface="Aptos"/>
              </a:rPr>
              <a:t>2,667.0 MW predicted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9560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4"/>
                </a:solidFill>
                <a:latin typeface="Aptos"/>
              </a:rPr>
              <a:t>Potential predictive warning horizon — forecasts remain subject to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05 /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2. Recommend load-balancing actions within hard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GridPulse uses linear programming to turn future risk into bounded candidate actions — without autonomous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4871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084831"/>
            <a:ext cx="502920" cy="502920"/>
          </a:xfrm>
          <a:prstGeom prst="round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033"/>
                </a:solidFill>
                <a:latin typeface="Aptos"/>
              </a:rPr>
              <a:t>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D3E"/>
                </a:solidFill>
                <a:latin typeface="Aptos"/>
              </a:rPr>
              <a:t>Charge / discharge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84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Power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874519"/>
            <a:ext cx="24871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2084831"/>
            <a:ext cx="502920" cy="502920"/>
          </a:xfrm>
          <a:prstGeom prst="roundRect">
            <a:avLst/>
          </a:prstGeom>
          <a:solidFill>
            <a:srgbClr val="2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258568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88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033"/>
                </a:solidFill>
                <a:latin typeface="Aptos"/>
              </a:rPr>
              <a:t>DEMAND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D3E"/>
                </a:solidFill>
                <a:latin typeface="Aptos"/>
              </a:rPr>
              <a:t>Reduce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84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Zone-specific limit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24871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2084831"/>
            <a:ext cx="502920" cy="502920"/>
          </a:xfrm>
          <a:prstGeom prst="roundRect">
            <a:avLst/>
          </a:prstGeom>
          <a:solidFill>
            <a:srgbClr val="1FA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258568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88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033"/>
                </a:solidFill>
                <a:latin typeface="Aptos"/>
              </a:rPr>
              <a:t>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D3E"/>
                </a:solidFill>
                <a:latin typeface="Aptos"/>
              </a:rPr>
              <a:t>Increase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84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Available capacity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1874519"/>
            <a:ext cx="24871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39" y="2084831"/>
            <a:ext cx="502920" cy="502920"/>
          </a:xfrm>
          <a:prstGeom prst="roundRect">
            <a:avLst/>
          </a:prstGeom>
          <a:solidFill>
            <a:srgbClr val="F0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39" y="2258568"/>
            <a:ext cx="502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2788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033"/>
                </a:solidFill>
                <a:latin typeface="Aptos"/>
              </a:rPr>
              <a:t>CURTAILMENT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D3E"/>
                </a:solidFill>
                <a:latin typeface="Aptos"/>
              </a:rPr>
              <a:t>Explicit curtailment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3584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Used only as a decision variable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343400"/>
            <a:ext cx="10835640" cy="1188720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5902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9120"/>
                </a:solidFill>
                <a:latin typeface="Aptos"/>
              </a:rPr>
              <a:t>WHY THIS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55371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2033"/>
                </a:solidFill>
                <a:latin typeface="Aptos"/>
              </a:rPr>
              <a:t>The optimizer is a recommendation engine. It does not directly control the grid.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010912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Solver: scipy.optimize.linprog / HiGHS  •  5,552 timesteps solved  •  zero solver constraint violations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06 / RENEWABLE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3. Detect anomalies. 4. Explain why they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Asset diagnostics combine expected-performance residuals, temporal degradation signals and Isolation Forest scoring.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1298448"/>
          </a:xfrm>
          <a:prstGeom prst="rect">
            <a:avLst/>
          </a:prstGeom>
          <a:solidFill>
            <a:srgbClr val="2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SOLAR 60M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042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15.06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9806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~76.8% improvement vs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828800"/>
            <a:ext cx="2743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1828800"/>
            <a:ext cx="50292" cy="1298448"/>
          </a:xfrm>
          <a:prstGeom prst="rect">
            <a:avLst/>
          </a:prstGeom>
          <a:solidFill>
            <a:srgbClr val="1FA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0116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WIND 60M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3042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6.98 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79806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~62.7% improvement vs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828800"/>
            <a:ext cx="2194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1828800"/>
            <a:ext cx="50292" cy="1298448"/>
          </a:xfrm>
          <a:prstGeom prst="rect">
            <a:avLst/>
          </a:prstGeom>
          <a:solidFill>
            <a:srgbClr val="F0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20116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EVENTS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304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2 /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79806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validation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828800"/>
            <a:ext cx="24688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828800"/>
            <a:ext cx="50292" cy="1298448"/>
          </a:xfrm>
          <a:prstGeom prst="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01168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CRITICAL 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304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2033"/>
                </a:solidFill>
                <a:latin typeface="Aptos"/>
              </a:rPr>
              <a:t>SOLAR_07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79806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4"/>
                </a:solidFill>
                <a:latin typeface="Aptos"/>
              </a:rPr>
              <a:t>inverter failure signal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520440"/>
            <a:ext cx="10835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68503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SOLAR_07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685032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Observed ~50% expected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68503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D3E"/>
                </a:solidFill>
                <a:latin typeface="Aptos"/>
              </a:rPr>
              <a:t>Inverter failure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3611880"/>
            <a:ext cx="1691640" cy="384048"/>
          </a:xfrm>
          <a:prstGeom prst="roundRect">
            <a:avLst/>
          </a:prstGeom>
          <a:solidFill>
            <a:srgbClr val="FFEFF0"/>
          </a:solidFill>
          <a:ln w="12700">
            <a:solidFill>
              <a:srgbClr val="E1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721608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14148"/>
                </a:solidFill>
                <a:latin typeface="Aptos"/>
              </a:rPr>
              <a:t>CRITICAL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233672"/>
            <a:ext cx="10835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398264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SOLAR_03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398264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Sustained underperformance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398264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D3E"/>
                </a:solidFill>
                <a:latin typeface="Aptos"/>
              </a:rPr>
              <a:t>Soiling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4325112"/>
            <a:ext cx="1691640" cy="384048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F0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4434840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09120"/>
                </a:solidFill>
                <a:latin typeface="Aptos"/>
              </a:rPr>
              <a:t>WATCH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946904"/>
            <a:ext cx="10835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11496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WIND_04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111496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Subtle sustained 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5111496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D3E"/>
                </a:solidFill>
                <a:latin typeface="Aptos"/>
              </a:rPr>
              <a:t>Gearbox degradation signal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1160" y="5038344"/>
            <a:ext cx="1691640" cy="384048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F0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5148072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09120"/>
                </a:solidFill>
                <a:latin typeface="Aptos"/>
              </a:rPr>
              <a:t>WATCH / MISSED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07 / OPERATOR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2033"/>
                </a:solidFill>
                <a:latin typeface="Aptos"/>
              </a:rPr>
              <a:t>One brief that connects state, future, evidence and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The operator gets a decision-ready summary — without needing to inspect every underlying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033"/>
                </a:solidFill>
                <a:latin typeface="Aptos"/>
              </a:rPr>
              <a:t>INTEGRATED OPERATOR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5989320" cy="493776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2624327"/>
            <a:ext cx="384048" cy="329184"/>
          </a:xfrm>
          <a:prstGeom prst="round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724912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004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70FF"/>
                </a:solidFill>
                <a:latin typeface="Aptos"/>
              </a:rP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70048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D3E"/>
                </a:solidFill>
                <a:latin typeface="Aptos"/>
              </a:rPr>
              <a:t>Demand • renewable output • transmission • curtailment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72968"/>
            <a:ext cx="5989320" cy="493776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255263"/>
            <a:ext cx="384048" cy="329184"/>
          </a:xfrm>
          <a:prstGeom prst="roundRect">
            <a:avLst/>
          </a:prstGeom>
          <a:solidFill>
            <a:srgbClr val="1FA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355848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00984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AACB"/>
                </a:solidFill>
                <a:latin typeface="Aptos"/>
              </a:rPr>
              <a:t>FUTURE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00984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D3E"/>
                </a:solidFill>
                <a:latin typeface="Aptos"/>
              </a:rPr>
              <a:t>60-minute demand • generation • grid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03904"/>
            <a:ext cx="5989320" cy="493776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3886200"/>
            <a:ext cx="384048" cy="329184"/>
          </a:xfrm>
          <a:prstGeom prst="roundRect">
            <a:avLst/>
          </a:prstGeom>
          <a:solidFill>
            <a:srgbClr val="2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986784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931920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B170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931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D3E"/>
                </a:solidFill>
                <a:latin typeface="Aptos"/>
              </a:rPr>
              <a:t>Asset health • root cause • stress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34840"/>
            <a:ext cx="5989320" cy="493776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4128" y="4517136"/>
            <a:ext cx="384048" cy="329184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617720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562855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400"/>
                </a:solidFill>
                <a:latin typeface="Aptos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562855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D3E"/>
                </a:solidFill>
                <a:latin typeface="Aptos"/>
              </a:rPr>
              <a:t>Constrained load-balancing 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065775"/>
            <a:ext cx="5989320" cy="493776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" y="5148071"/>
            <a:ext cx="384048" cy="329184"/>
          </a:xfrm>
          <a:prstGeom prst="roundRect">
            <a:avLst/>
          </a:prstGeom>
          <a:solidFill>
            <a:srgbClr val="F0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48655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193791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09120"/>
                </a:solidFill>
                <a:latin typeface="Aptos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193791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D3E"/>
                </a:solidFill>
                <a:latin typeface="Aptos"/>
              </a:rPr>
              <a:t>Baseline vs counterfactual safety 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715000"/>
            <a:ext cx="5989320" cy="320040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5806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12033"/>
                </a:solidFill>
                <a:latin typeface="Aptos"/>
              </a:rPr>
              <a:t>Traceable outputs • deterministic safety flags • authoritative numbers preserved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1828800"/>
            <a:ext cx="40690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033"/>
                </a:solidFill>
                <a:latin typeface="Aptos"/>
              </a:rPr>
              <a:t>OPERATOR DECISION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542032"/>
            <a:ext cx="3429000" cy="932688"/>
          </a:xfrm>
          <a:prstGeom prst="roundRect">
            <a:avLst/>
          </a:prstGeom>
          <a:solidFill>
            <a:srgbClr val="EBF9F2"/>
          </a:solidFill>
          <a:ln w="12700">
            <a:solidFill>
              <a:srgbClr val="27B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2770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7B170"/>
                </a:solidFill>
                <a:latin typeface="Aptos"/>
              </a:rP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3136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NORMAL OPERATION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76732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Decision support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224528"/>
            <a:ext cx="342900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407408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4"/>
                </a:solidFill>
                <a:latin typeface="Aptos"/>
              </a:rPr>
              <a:t>HUMAN APPROVAL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6817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REVIEW → APPROVE / HOLD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230368"/>
            <a:ext cx="3429000" cy="576072"/>
          </a:xfrm>
          <a:prstGeom prst="roundRect">
            <a:avLst/>
          </a:prstGeom>
          <a:solidFill>
            <a:srgbClr val="FFEFF0"/>
          </a:solidFill>
          <a:ln w="12700">
            <a:solidFill>
              <a:srgbClr val="E1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422392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14148"/>
                </a:solidFill>
                <a:latin typeface="Aptos"/>
              </a:rPr>
              <a:t>UNSAFE ACTION → 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08 /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We do not hide model failure. We operationalize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The counterfactual layer asks whether the proposed action actually improves the future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29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70FF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2033"/>
                </a:solidFill>
                <a:latin typeface="Aptos"/>
              </a:rPr>
              <a:t>~7,068.53 MWh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curtailment over evaluation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64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B170"/>
                </a:solidFill>
                <a:latin typeface="Aptos"/>
              </a:rPr>
              <a:t>0 overload intervals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394960" cy="2240280"/>
          </a:xfrm>
          <a:prstGeom prst="roundRect">
            <a:avLst/>
          </a:prstGeom>
          <a:solidFill>
            <a:srgbClr val="FFEFF0"/>
          </a:solidFill>
          <a:ln w="12700">
            <a:solidFill>
              <a:srgbClr val="E1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COUNTERFACTUAL OPTIMIZED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2033"/>
                </a:solidFill>
                <a:latin typeface="Aptos"/>
              </a:rPr>
              <a:t>~100,488.57 MWh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4"/>
                </a:solidFill>
                <a:latin typeface="Aptos"/>
              </a:rPr>
              <a:t>simulated curtailment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564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23 overload intervals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4526280"/>
            <a:ext cx="8412480" cy="914400"/>
          </a:xfrm>
          <a:prstGeom prst="roundRect">
            <a:avLst/>
          </a:prstGeom>
          <a:solidFill>
            <a:srgbClr val="FFEFF0"/>
          </a:solidFill>
          <a:ln w="12700">
            <a:solidFill>
              <a:srgbClr val="E1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736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14148"/>
                </a:solidFill>
                <a:latin typeface="Aptos"/>
              </a:rPr>
              <a:t>⚠ ADVERSE COUNTERFACTUAL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7457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D3E"/>
                </a:solidFill>
                <a:latin typeface="Aptos"/>
              </a:rPr>
              <a:t>Forecast error can make a reasonable-looking action unsafe.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715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2033"/>
                </a:solidFill>
                <a:latin typeface="Aptos"/>
              </a:rPr>
              <a:t>This is why GridPulse requires validation + human approval instead of autonomous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09 / DEMO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Show the judges one story, not ten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The strongest demo follows the operational sequence from current state to safe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029968"/>
            <a:ext cx="457200" cy="457200"/>
          </a:xfrm>
          <a:prstGeom prst="roundRect">
            <a:avLst/>
          </a:prstGeom>
          <a:solidFill>
            <a:srgbClr val="26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762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04825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70FF"/>
                </a:solidFill>
                <a:latin typeface="Aptos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404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Current demand, renewable output and transmission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2029968"/>
            <a:ext cx="457200" cy="457200"/>
          </a:xfrm>
          <a:prstGeom prst="roundRect">
            <a:avLst/>
          </a:prstGeom>
          <a:solidFill>
            <a:srgbClr val="1FA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762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04825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AACB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04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60-minute demand + solar/wind outlook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2029968"/>
            <a:ext cx="457200" cy="457200"/>
          </a:xfrm>
          <a:prstGeom prst="roundRect">
            <a:avLst/>
          </a:prstGeom>
          <a:solidFill>
            <a:srgbClr val="2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762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04825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B170"/>
                </a:solidFill>
                <a:latin typeface="Aptos"/>
              </a:rPr>
              <a:t>ASSESS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404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Grid risk + curtailment probability + asset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576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59" y="3858768"/>
            <a:ext cx="457200" cy="457200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87705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  <a:latin typeface="Aptos"/>
              </a:rPr>
              <a:t>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233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Constrained load-balancing 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3858768"/>
            <a:ext cx="457200" cy="457200"/>
          </a:xfrm>
          <a:prstGeom prst="roundRect">
            <a:avLst/>
          </a:prstGeom>
          <a:solidFill>
            <a:srgbClr val="F09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0050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387705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9120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9512" y="4233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Simulate the proposed action against the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657600"/>
            <a:ext cx="3337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0" y="3858768"/>
            <a:ext cx="457200" cy="457200"/>
          </a:xfrm>
          <a:prstGeom prst="roundRect">
            <a:avLst/>
          </a:prstGeom>
          <a:solidFill>
            <a:srgbClr val="E1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0050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87705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14148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4233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GREEN / YELLOW / RED operator brief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5577840"/>
            <a:ext cx="8549640" cy="502920"/>
          </a:xfrm>
          <a:prstGeom prst="roundRect">
            <a:avLst/>
          </a:prstGeom>
          <a:solidFill>
            <a:srgbClr val="11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5733288"/>
            <a:ext cx="8275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final screen answers one question:  “Is this action safe enough for a human to approve?”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10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033"/>
                </a:solidFill>
                <a:latin typeface="Aptos"/>
              </a:rPr>
              <a:t>Built as a practical MVP — with the limits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The implementation prioritizes an auditable decision path over unnecessary model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4"/>
                </a:solidFill>
                <a:latin typeface="Aptos"/>
              </a:rPr>
              <a:t>GRIDPULSE AI  |  IBM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400"/>
                </a:solidFill>
                <a:latin typeface="Aptos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4203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Core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723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Pandas /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7238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Data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5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02735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33087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133087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Demand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SciPy / HiGHS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6634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937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Plotly + 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19379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Operator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783080"/>
            <a:ext cx="5394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0848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14148"/>
                </a:solidFill>
                <a:latin typeface="Aptos"/>
              </a:rPr>
              <a:t>HONEST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• Continuous battery SoC cannot be verified without energy_capacity_mwh.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44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• Forecasts are predictive guidance and subject to error.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47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• Wind MAPE is unstable near zero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50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• Root cause is evidence-based, not fully supervised.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5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• Simulation results are counterfactual estimates, not historical savings.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566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D3E"/>
                </a:solidFill>
                <a:latin typeface="Aptos"/>
              </a:rPr>
              <a:t>• No automatic grid-control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400"/>
                </a:solidFill>
                <a:latin typeface="Aptos"/>
              </a:rPr>
              <a:t>GRIDPULSE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315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2033"/>
                </a:solidFill>
                <a:latin typeface="Aptos"/>
              </a:rPr>
              <a:t>Forecast the grid.
Validate the action.
Keep humans in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337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4"/>
                </a:solidFill>
                <a:latin typeface="Aptos"/>
              </a:rPr>
              <a:t>Directly addresses the challenge through one integrated operator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160520"/>
            <a:ext cx="3246120" cy="123444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6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43484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70FF"/>
                </a:solidFill>
                <a:latin typeface="Aptos"/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2033"/>
                </a:solidFill>
                <a:latin typeface="Aptos"/>
              </a:rPr>
              <a:t>See demand &amp; renewable conditions 60 minutes ahead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4160520"/>
            <a:ext cx="3246120" cy="1234440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F09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443484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9120"/>
                </a:solidFill>
                <a:latin typeface="Aptos"/>
              </a:rPr>
              <a:t>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2033"/>
                </a:solidFill>
                <a:latin typeface="Aptos"/>
              </a:rPr>
              <a:t>Test recommendations with counterfactual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4160520"/>
            <a:ext cx="3246120" cy="1234440"/>
          </a:xfrm>
          <a:prstGeom prst="roundRect">
            <a:avLst/>
          </a:prstGeom>
          <a:solidFill>
            <a:srgbClr val="EBF9F2"/>
          </a:solidFill>
          <a:ln w="12700">
            <a:solidFill>
              <a:srgbClr val="27B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443484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B170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2033"/>
                </a:solidFill>
                <a:latin typeface="Aptos"/>
              </a:rPr>
              <a:t>Deliver explainable risk flags with human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8978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2033"/>
                </a:solidFill>
                <a:latin typeface="Aptos"/>
              </a:rPr>
              <a:t>TEAM ANTIGRAVITY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44768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DhruvKumar Mistry  •  Meet Patel  •  Kakkad Priyansh  •  Harsh Verma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